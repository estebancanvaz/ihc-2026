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Tareas completadas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73B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Esteban C.</c:v>
                  </c:pt>
                  <c:pt idx="1">
                    <c:v>Eduardo M.</c:v>
                  </c:pt>
                  <c:pt idx="2">
                    <c:v>Ángel P.</c:v>
                  </c:pt>
                  <c:pt idx="3">
                    <c:v>Mauricio R.</c:v>
                  </c:pt>
                  <c:pt idx="4">
                    <c:v>Jorge V.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73B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9E2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C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5C75">
              <a:alpha val="70000"/>
            </a:srgbClr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60175" y="6126480"/>
            <a:ext cx="1645920" cy="1645920"/>
          </a:xfrm>
          <a:prstGeom prst="ellipse">
            <a:avLst/>
          </a:prstGeom>
          <a:solidFill>
            <a:srgbClr val="FFD166">
              <a:alpha val="3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73152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Proyecto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brigadas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limpieza de playas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Entrega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7150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Canto Vázquez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José Matos Uc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 Leandro Puch Uribe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Emiliano Ramírez Ceciliano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Gabriel Vázquez Suárez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53935" y="5440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Humano-Computadora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56655" y="57332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de Yucatán  ·  Facultad de Matemáticas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448495" y="6007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verás en esta sesión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18928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Recapitulación del proyecto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1671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Problema, propuesta y caso crítico CU-002.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325880" y="26060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de requerimientos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2880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sobre RF y RNF; trazabilidad.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300984"/>
            <a:ext cx="502920" cy="502920"/>
          </a:xfrm>
          <a:prstGeom prst="ellipse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25880" y="33192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 en tres fidelidades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35935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Baja, mediana y alta fidelidad; evolución.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014216"/>
            <a:ext cx="502920" cy="502920"/>
          </a:xfrm>
          <a:prstGeom prst="ellipse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25880" y="403250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inspección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25880" y="43068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heurística de Nielsen.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086600" y="18928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diseño con KLM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086600" y="21671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KLM aplicados al flujo de check-in.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0" y="2587752"/>
            <a:ext cx="502920" cy="502920"/>
          </a:xfrm>
          <a:prstGeom prst="ellipse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86600" y="26060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pruebas de usabilidad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86600" y="2880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Objetivos, métricas, instrumentos.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0" y="3300984"/>
            <a:ext cx="502920" cy="502920"/>
          </a:xfrm>
          <a:prstGeom prst="ellipse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086600" y="331927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 y siguientes pasos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086600" y="35935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% de participación, cierre.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propuesta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28800"/>
            <a:ext cx="5303520" cy="393192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73152" cy="3931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39572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playas de Yucatán acumulan residuos plásticos sin un canal claro para que voluntarios y organizadores se coordinen.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brigadas se difunden en redes sin registro central.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estándar de medir el impacto.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motivación decae tras la primera participación.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check-in en sitio depende de procesos manuales.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303520" cy="393192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1828800"/>
            <a:ext cx="73152" cy="3931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239572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EcoWave: app móvil que conecta brigadas, organiza la asistencia y mide el impacto ambiental con gamificación.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84048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37960" y="4434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eventos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856" y="384048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63256" y="4434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por QR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2" y="384048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88552" y="4434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Gamificación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384048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13848" y="44348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impacto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53796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"Nuestra brigada cabe en el bolsillo del voluntario."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REQUERIMIENTOS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Refinamiento del ERS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28800"/>
            <a:ext cx="3611880" cy="1463040"/>
          </a:xfrm>
          <a:prstGeom prst="rect">
            <a:avLst/>
          </a:prstGeom>
          <a:solidFill>
            <a:srgbClr val="F5E6C8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87452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1828800" y="2011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REFINADOS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0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validación,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cuantificación y filtros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80560" y="1828800"/>
            <a:ext cx="3611880" cy="1463040"/>
          </a:xfrm>
          <a:prstGeom prst="rect">
            <a:avLst/>
          </a:prstGeom>
          <a:solidFill>
            <a:srgbClr val="F5E6C8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187452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5669280" y="2011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NUEVOS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concurrencia, cifrado,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disponibilidad, respaldo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321040" y="1828800"/>
            <a:ext cx="3611880" cy="1463040"/>
          </a:xfrm>
          <a:prstGeom prst="rect">
            <a:avLst/>
          </a:prstGeom>
          <a:solidFill>
            <a:srgbClr val="F5E6C8"/>
          </a:solidFill>
          <a:ln w="12700">
            <a:solidFill>
              <a:srgbClr val="F5E6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21040" y="1874520"/>
            <a:ext cx="1188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5600" dirty="0"/>
          </a:p>
        </p:txBody>
      </p:sp>
      <p:sp>
        <p:nvSpPr>
          <p:cNvPr id="16" name="Text 13"/>
          <p:cNvSpPr/>
          <p:nvPr/>
        </p:nvSpPr>
        <p:spPr>
          <a:xfrm>
            <a:off x="9509760" y="20116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TOTALES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509760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con criterio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medible y verificable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Refinados (claridad y métrica)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393192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contraseña ≥ 8 caracteres con criterios de seguridad.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filtros del mapa: distancia ≤ 25 km, fecha, estado, tipo.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ventana QR válida ±30 min de la hora de inicio.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RF-05/06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 puntos por check-in; insignias 1/5/10/25 brigadas.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flujo de check-in en ≤ 3 interacciones.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RNF-07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WCAG AA: contraste 4.5:1, tamaño ≥ 44×44 px.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008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(cobertura)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0" y="393192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RNF-08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500 usuarios concurrentes con respuesta &lt; 2 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RNF-09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cifrado HTTPS con TLS 1.2+ para datos sensibles.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RNF-10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disponibilidad ≥ 99 % (≤ 5 min downtime mensual).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RNF-11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respaldo diario con redundancia geográfica.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trazabilidad RU → RF → RNF con prioridad.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detallados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CU-001, CU-002 y CU-003 con flujo alternativo.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REQUERIMIENTOS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y caso crítico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28800"/>
            <a:ext cx="3611880" cy="15544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3042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Inscribirse a brigada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8803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880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80560" y="1828800"/>
            <a:ext cx="3611880" cy="155448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09160" y="23042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check-in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09160" y="28803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28803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321040" y="1828800"/>
            <a:ext cx="3611880" cy="15544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2011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CU-003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49640" y="230428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contaminación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549640" y="288036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49640" y="28803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3703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CU-002 es nuestro caso crítico</a:t>
            </a:r>
            <a:endParaRPr lang="en-US" sz="16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0624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4300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CU con prioridad Crítica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43000" y="4453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matriz RU-RF-RNF está asociado a RU-03.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20624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1228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los RNF de usabilidad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812280" y="44531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 ≤ 3 toques · RNF-05 ≤ 30 s · RNF-06 ≤ 500 ms · RNF-07.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206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4300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mayor estrés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143000" y="5367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playa, con luz solar directa y conectividad limitada.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12064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1228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falla, falla todo lo demás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812280" y="5367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check-in no hay puntos, ni insignias, ni reporte.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PROTOTIPOS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tres fidelidades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una versión navegable en HTML con tres niveles seleccionables. Cada nivel revela una pregunta de diseño distinta.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611880" cy="365760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60604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1A2B33"/>
          </a:solidFill>
          <a:ln w="12700">
            <a:solidFill>
              <a:srgbClr val="1A2B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fidelidad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estructura del flujo es correcta?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42976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en blanco y negro con bordes punteados y tipografía estilo boceto. Sin color, sin marca, sin distracciones.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2331720"/>
            <a:ext cx="3611880" cy="3657600"/>
          </a:xfrm>
          <a:prstGeom prst="rect">
            <a:avLst/>
          </a:prstGeom>
          <a:solidFill>
            <a:srgbClr val="EFF6F8"/>
          </a:solidFill>
          <a:ln w="12700">
            <a:solidFill>
              <a:srgbClr val="EFF6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60604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fidelidad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75488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jerarquía y los componentes funcionan?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54880" y="42976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color de marca, espaciado refinado, componentes reales (tarjetas, badges, navegación inferior).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21040" y="2331720"/>
            <a:ext cx="3611880" cy="365760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95360" y="260604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0" y="26060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0" y="3108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fidelidad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59536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emoción y el detalle visual están listos?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595360" y="42976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final: gradientes, sombras, microinteracciones, mapa estilizado, QR vectorial, gamificación con insignias.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PROTOTIPOS · 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fidelidad — flujo CU-002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6" name="Image 1" descr="/home/claude/presentacion_assets/strip_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11475720" cy="2999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020824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75888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330952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986016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4108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296144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que cerramos en LF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55778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es la pantalla raíz, no un listado de eventos.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rutas en check-in: QR primario, GPS como respaldo.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éxito separada con puntos e insignia visibles.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seguimos en blanco y negro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55778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debatir colores antes de validar el flujo.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de boceto comunica que es un borrador.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 punteados marcan elementos pendientes (mapa, foto).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PROTOTIPOS · MF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fidelidad — jerarquía visual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6" name="Image 1" descr="/home/claude/presentacion_assets/strip_m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11475720" cy="2999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020824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75888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330952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986016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4108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296144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incorpora MF respecto a LF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55778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primario (#073B4C) y acento teal solo en acciones.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reales: tarjetas con sombra suave, badges.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 textual "21 / 30 inscritos".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que respondió esta versión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55778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estructura aguanta cuando aparecen los componentes?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gamificación distrae si entra al perfil ya con contenido?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check-in necesita un estado intermedio de geolocalización?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PROTOTIPOS · HF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fidelidad — el look final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6" name="Image 1" descr="/home/claude/presentacion_assets/strip_h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83080"/>
            <a:ext cx="11475720" cy="2999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020824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75888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330952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986016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41080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296144" y="4800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5349240"/>
            <a:ext cx="3611880" cy="1097280"/>
          </a:xfrm>
          <a:prstGeom prst="rect">
            <a:avLst/>
          </a:prstGeom>
          <a:solidFill>
            <a:srgbClr val="0D5C75">
              <a:alpha val="70000"/>
            </a:srgbClr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visual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68680" y="57790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Gradientes ocean → teal en hero, tipografía Manrope, botones flotantes con sombra suave.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80560" y="5349240"/>
            <a:ext cx="3611880" cy="1097280"/>
          </a:xfrm>
          <a:prstGeom prst="rect">
            <a:avLst/>
          </a:prstGeom>
          <a:solidFill>
            <a:srgbClr val="0D5C75">
              <a:alpha val="70000"/>
            </a:srgbClr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09160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Microinteracción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709160" y="57790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Animación pop en confirmación; barra de progreso con gradiente; QR con esquinas teal animadas.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321040" y="5349240"/>
            <a:ext cx="3611880" cy="1097280"/>
          </a:xfrm>
          <a:prstGeom prst="rect">
            <a:avLst/>
          </a:prstGeom>
          <a:solidFill>
            <a:srgbClr val="0D5C75">
              <a:alpha val="70000"/>
            </a:srgbClr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49640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completos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549640" y="57790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 "tú estás aquí", aviso "¿Sin señal?" en check-in, insignias bloqueadas en perfil.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PROTOTIPOS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entre fidelidades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28800"/>
            <a:ext cx="3712464" cy="50292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82880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LF  → MF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35424" y="1828800"/>
            <a:ext cx="3712464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64024" y="182880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MF  → HF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30768" y="1828800"/>
            <a:ext cx="3712464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59368" y="182880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33172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37744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 con peso tipográfico y tamaños 12/14/22 px.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35424" y="233172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18304" y="237744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primario solo en elementos accionables y marca.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430768" y="233172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13648" y="237744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color discrimina o sólo decora?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297180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01752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plana → tarjetas con icono al inicio.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35424" y="297180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18304" y="301752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con sombra suave y borde teal en hover.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430768" y="297180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13648" y="301752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interacción es perceptible al toque?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" y="361188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65760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 textual ("21/30 inscritos").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35424" y="361188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18304" y="365760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con gradiente teal → ocean y % destacado.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430768" y="361188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13648" y="365760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proximidad al cupo se lee de un vistazo?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40080" y="425196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429768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éxito con texto y tarjetas neutras.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35424" y="425196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18304" y="429768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gradiente, animación pop, insignia diferenciada.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430768" y="425196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13648" y="429768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logro se siente sin distraer del mensaje?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0080" y="489204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" y="493776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 mapa ]" como placeholder.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35424" y="489204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18304" y="493776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estilizado con "tú estás aquí" y pines animados.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430768" y="4892040"/>
            <a:ext cx="3712464" cy="6400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613648" y="493776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claro que es un mapa sin cargar uno real?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40080" y="553212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2960" y="557784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vacío con la frase "marco QR".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4535424" y="553212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18304" y="557784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vectorial completo con esquinas teal y línea de escaneo.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8430768" y="5532120"/>
            <a:ext cx="3712464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613648" y="557784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usuario reconoce el modo cámara al instante?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MÉTODOS DE INSPECCIÓN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heurística de Nielsen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heurísticas y no otra inspección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costo: apta para etapa de prototipo HF.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problemas estructurales antes de la prueba con usuarios.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heurísticas aplican a cualquier interfaz móvil.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tabla: heurística, hallazgo, severidad 0–4, evidencia, recomendación.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1828800"/>
            <a:ext cx="1645920" cy="128016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evaluadores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83880" y="1828800"/>
            <a:ext cx="1645920" cy="128016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18388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966960" y="1828800"/>
            <a:ext cx="1645920" cy="128016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696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996696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severidad (Nielsen 0–4)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0" y="3657600"/>
            <a:ext cx="228600" cy="2286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Mayor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0" y="3611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0" y="4069080"/>
            <a:ext cx="228600" cy="2286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Menor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51560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0" y="4480560"/>
            <a:ext cx="228600" cy="2286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4434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Cosmético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515600" y="4434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4008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aplicado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53492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43000" y="5303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individual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143000" y="55961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evaluador completa CU-002 dos veces sin tomar notas.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480560" y="53492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8056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983480" y="5303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guiada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983480" y="55961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recorrido con tabla de 10 heurísticas en mano.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321040" y="53492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2104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823960" y="53035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consolidación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823960" y="55961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Eliminamos duplicados, asignamos severidad por consenso, redactamos recomendaciones.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MÉTODOS DE INSPECCIÓN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y acciones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28800"/>
            <a:ext cx="3611880" cy="20116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63240" y="19933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324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mayor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686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· Visibilidad del estado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25786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había indicador de progreso al inicializar la cámara del QR.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868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Resuelto: línea de escaneo animada + mensaje "Apunta la cámara…"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611880" cy="20116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19933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0372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mayor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0916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· Prevención de errores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09160" y="25786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usuario está fuera del área del evento no se previene el intento.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70916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Resuelto: indicador "Estás dentro del área del evento ✓" antes de las opciones.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321040" y="1828800"/>
            <a:ext cx="3611880" cy="20116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744200" y="199339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74420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menor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496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· Coincidencia con el mundo real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549640" y="25786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etiqueta "Validar asistencia" no es lenguaje cotidiano.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54964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Resuelto: renombrado a "Hacer check-in" / "Confirma tu asistencia".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" y="4023360"/>
            <a:ext cx="3611880" cy="20116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063240" y="418795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6324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menor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868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· Control y libertad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6868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había forma de "deshacer" el check-in tras confirmarlo.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6868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Pendiente: enlace "Volver al evento" en pantalla de éxito y "Cancelar inscripción" en detalle.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480560" y="4023360"/>
            <a:ext cx="3611880" cy="20116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0916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H-08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03720" y="418795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0372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cosmético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70916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 · Diseño minimalista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70916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perfil, las insignias bloqueadas competían por atención con las activas.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0916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Resuelto: grayscale + opacidad 0.4 para insignias bloqueadas.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321040" y="4023360"/>
            <a:ext cx="3611880" cy="2011680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49640" y="4187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H-09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0744200" y="418795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44200" y="4187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menor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4964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 · Recuperación de errores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549640" y="47731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QR no es legible, el sistema no ofrece alternativa.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854964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Resuelto: tarjeta "¿Sin señal? Pídele al organizador el código manual".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ANÁLISIS DEL DISEÑO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KLM aplicado al check-in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28800"/>
            <a:ext cx="4937760" cy="384048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057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predicho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868680" y="3931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para completar el check-in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4434840"/>
            <a:ext cx="4480560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526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 exige ≤ 30 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por debajo del límite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por operador KLM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943600" y="2331720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6520" y="2304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act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1.20 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098280" y="23408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 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43600" y="2926080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46520" y="2898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Pointing/Tap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46520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1.10 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098280" y="293522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3.30 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943600" y="3520440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4652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46520" y="3749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0.40 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098280" y="35295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 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943600" y="4114800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4652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sistema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46520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 + 0.50 + 0.30 + 1.00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098280" y="41239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2.30 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943600" y="4846320"/>
            <a:ext cx="5440680" cy="36576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usuario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098280" y="4937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9.70 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94360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sistema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098280" y="5212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2.30 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Moran &amp; Newell · 13 pasos modelados manualmente sobre el prototipo HF con asistencia de IA generativa para validar las M-rules.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PRUEBAS DE USABILIDAD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preliminar de la prueba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28800"/>
            <a:ext cx="5440680" cy="192024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103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6974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si los voluntarios completan el check-in en &lt; 30 s con luz solar simulada y conectividad limitada.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309360" y="1828800"/>
            <a:ext cx="5440680" cy="192024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0312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69480" y="2103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583680" y="26974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personas: 4 voluntarios ocasionales (Persona Lucía) + 2 organizadores (Persona Carlos). Reclutados sin lazo con el equipo.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3931920"/>
            <a:ext cx="5440680" cy="192024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0624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0020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14400" y="4800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Llegada a Limpieza Playa Chicxulub. Tarea: abrir la app, localizar el evento, escanear QR, verificar puntos.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309360" y="3931920"/>
            <a:ext cx="5440680" cy="1920240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20624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69480" y="42062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583680" y="4800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 (7 ítems) · SUS (10 ítems) + SEQ · entrevista (5 ítems) · planilla de observación · grabación de pantalla.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40080" y="6035040"/>
            <a:ext cx="10927080" cy="45720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0080" y="60350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completa ≈ 40 min:  bienvenida 5 · pre-test 5 · capacitación 3 · tarea 10 · post-test 10 · entrevista 5 · cierre 2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PRUEBAS DE USABILIDAD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aceptabilidad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8288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15000" y="1828800"/>
            <a:ext cx="3108960" cy="50292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823960" y="1828800"/>
            <a:ext cx="3108960" cy="502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5256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SATISFACTORIO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331720"/>
            <a:ext cx="507492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3317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 en completar el check-in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0" y="2331720"/>
            <a:ext cx="310896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331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823960" y="2331720"/>
            <a:ext cx="310896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52560" y="23317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95 %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2898648"/>
            <a:ext cx="5074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289864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completitud (apertura → confirmación)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715000" y="2898648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0" y="2898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45 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823960" y="2898648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52560" y="28986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 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3465576"/>
            <a:ext cx="507492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346557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errores por participante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715000" y="3465576"/>
            <a:ext cx="310896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0" y="34655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823960" y="3465576"/>
            <a:ext cx="310896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52560" y="34655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032504"/>
            <a:ext cx="5074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8680" y="403250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interacciones desde pantalla principal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715000" y="4032504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0" y="40325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823960" y="4032504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52560" y="40325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" y="4599432"/>
            <a:ext cx="507492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68680" y="45994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retroalimentación visual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715000" y="4599432"/>
            <a:ext cx="310896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0" y="45994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800 ms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823960" y="4599432"/>
            <a:ext cx="3108960" cy="566928"/>
          </a:xfrm>
          <a:prstGeom prst="rect">
            <a:avLst/>
          </a:prstGeom>
          <a:solidFill>
            <a:srgbClr val="FAF6EE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052560" y="459943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 ms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" y="5166360"/>
            <a:ext cx="5074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68680" y="51663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del SUS (System Usability Scale)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715000" y="5166360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943600" y="5166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68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823960" y="5166360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052560" y="51663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40080" y="596188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métrica está trazada a un RNF del ERS y a un instrumento concreto (planilla, cronómetro, SUS, análisis cuadro a cuadro).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TRABAJO EN 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participación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78308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85800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Esteban Canto Vázquez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858000" y="2103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Requerimientos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858000" y="2359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del ERS, matriz de trazabilidad, cuestionario pre-prueba.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85800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José Matos Uc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858000" y="2971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DCU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858000" y="3227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DCU al ERS, escenario de prueba, perfil de participantes.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858000" y="3566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 Leandro Puch Uribe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58000" y="3840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Prototipado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858000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y prototipos LF/MF/HF, guía de estilo visual.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85800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Emiliano Ramírez C.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58000" y="4709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Análisis y Evaluación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858000" y="4965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escenario crítico, modelado KLM con asistencia de IA.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5800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Gabriel Vázquez Suárez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858000" y="55778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Investigación y Pruebas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858000" y="5833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etnográfico, métricas de usabilidad, SUS + SEQ.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0080" y="612648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del 100 % por integrante  ·  Reuniones lunes y jueves  ·  Tablero Trello  ·  Revisión por pares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45720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81328"/>
            <a:ext cx="4572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965960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965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78992" y="2377440"/>
            <a:ext cx="36576" cy="457200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164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Cerrar pendientes heurísticos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91640" y="2194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H-02 (badge "Inscrito") y H-04 (deshacer check-in) en el prototipo HF.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834640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834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78992" y="3246120"/>
            <a:ext cx="36576" cy="457200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91640" y="2743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Reclutar y agendar 6 participantes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691640" y="3063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criterios de inclusión/exclusión y agendar pilotos antes de la sesión real.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703320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703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78992" y="4114800"/>
            <a:ext cx="36576" cy="457200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91640" y="3611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Ejecutar prueba de usabilidad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91640" y="3931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individuales de 40 min con think aloud y grabación. Pilotear con 1 voluntario primero.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572000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572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78992" y="4983480"/>
            <a:ext cx="36576" cy="457200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91640" y="4480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Analizar resultados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691640" y="48006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Cuantitativo (tiempos, SUS, SEQ) + cualitativo (think aloud, entrevista).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5440680"/>
            <a:ext cx="914400" cy="411480"/>
          </a:xfrm>
          <a:prstGeom prst="roundRect">
            <a:avLst>
              <a:gd name="adj" fmla="val 48889"/>
            </a:avLst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440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69164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Iterar prototipo y entrega final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691640" y="5669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basados en hallazgos + documento de cierre y demo navegable.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6446520"/>
            <a:ext cx="11094415" cy="4572"/>
          </a:xfrm>
          <a:prstGeom prst="rect">
            <a:avLst/>
          </a:prstGeom>
          <a:solidFill>
            <a:srgbClr val="D9E2E7"/>
          </a:solidFill>
          <a:ln w="12700">
            <a:solidFill>
              <a:srgbClr val="D9E2E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Segunda Entrega  ·  Mayo 2026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0D5C75">
              <a:alpha val="65000"/>
            </a:srgbClr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2EC4B6">
              <a:alpha val="4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Quedamos atentos a sus preguntas y observaciones sobre el avance de EcoWave.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3520440" cy="1188720"/>
          </a:xfrm>
          <a:prstGeom prst="rect">
            <a:avLst/>
          </a:prstGeom>
          <a:solidFill>
            <a:srgbClr val="0D5C75">
              <a:alpha val="60000"/>
            </a:srgbClr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166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fidelidades navegables sobre CU-002.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5029200"/>
            <a:ext cx="3520440" cy="1188720"/>
          </a:xfrm>
          <a:prstGeom prst="rect">
            <a:avLst/>
          </a:prstGeom>
          <a:solidFill>
            <a:srgbClr val="0D5C75">
              <a:alpha val="60000"/>
            </a:srgbClr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5166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hallazgos heurísticos, 7 ya resueltos en HF.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5029200"/>
            <a:ext cx="3520440" cy="1188720"/>
          </a:xfrm>
          <a:prstGeom prst="rect">
            <a:avLst/>
          </a:prstGeom>
          <a:solidFill>
            <a:srgbClr val="0D5C75">
              <a:alpha val="60000"/>
            </a:srgbClr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5166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4964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 predichos vs 30 s del RNF — 60 % de margen.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EcoWave  ·  Interacción Humano-Computadora  ·  UADY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EcoWave - Segunda Entrega</dc:title>
  <dc:subject>PptxGenJS Presentation</dc:subject>
  <dc:creator>Equipo EcoWave - UADY</dc:creator>
  <cp:lastModifiedBy>Equipo EcoWave - UADY</cp:lastModifiedBy>
  <cp:revision>1</cp:revision>
  <dcterms:created xsi:type="dcterms:W3CDTF">2026-05-07T07:50:29Z</dcterms:created>
  <dcterms:modified xsi:type="dcterms:W3CDTF">2026-05-07T07:50:29Z</dcterms:modified>
</cp:coreProperties>
</file>